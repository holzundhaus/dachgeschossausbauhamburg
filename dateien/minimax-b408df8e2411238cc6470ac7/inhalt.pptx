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geschossausbauhamburg/-/blob/3ac024724add9fe790626d61280244173869e21f/_posts/2026-10-17-brandschutz-dg-ausbau-holz-hamburg-hbauo-2026.md" TargetMode="External"/><Relationship Id="rId3" Type="http://schemas.openxmlformats.org/officeDocument/2006/relationships/hyperlink" Target="https://holzundhaus.github.io/dachgeschossausbauhamburg/dateien/minimax-b408df8e2411238cc6470ac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beim DG-Ausbau mit Holz: Was Hamburg nach HBauO 2026 wirklich verlangt · Erklärende Präsentation</a:t>
            </a:r>
          </a:p>
        </p:txBody>
      </p:sp>
      <p:sp>
        <p:nvSpPr>
          <p:cNvPr id="3" name="Content Placeholder 2"/>
          <p:cNvSpPr>
            <a:spLocks noGrp="1"/>
          </p:cNvSpPr>
          <p:nvPr>
            <p:ph idx="1"/>
          </p:nvPr>
        </p:nvSpPr>
        <p:spPr/>
        <p:txBody>
          <a:bodyPr/>
          <a:lstStyle/>
          <a:p>
            <a:r>
              <a:t>Überblick: Wer in Hamburg ein Dachgeschoss ausbaut, denkt häufig zuerst an Brandschutz, Dämmung und Statik. Der Schallschutz wird dabei oft erst spät oder gar nicht betrachtet – obwohl er die Wohnqualität in einem DG-Ausbau maßgeblich beeinflusst. Gerade in Altbauten mit Holzbalkendecken stellt der Schallschutz eine besondere planerische Herausforderung dar. Dieser Ratgeber zeigt, worauf Eigentümer und Planer beim DG-Ausbau in Hamburg achten sollten, um Schallübertragungen wirksam zu begrenzen.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Schallschutz im DG-Ausbau so anspruchsvoll ist</a:t>
            </a:r>
          </a:p>
        </p:txBody>
      </p:sp>
      <p:sp>
        <p:nvSpPr>
          <p:cNvPr id="3" name="Content Placeholder 2"/>
          <p:cNvSpPr>
            <a:spLocks noGrp="1"/>
          </p:cNvSpPr>
          <p:nvPr>
            <p:ph idx="1"/>
          </p:nvPr>
        </p:nvSpPr>
        <p:spPr/>
        <p:txBody>
          <a:bodyPr/>
          <a:lstStyle/>
          <a:p>
            <a:pPr>
              <a:defRPr sz="1800"/>
            </a:pPr>
            <a:r>
              <a:t>Hamburger Altbauten verfügen typischerweise über Holzbalkendecken, die im Vergleich zu modernen Massivdecken eine deutlich geringere Schalldämmung aufweisen. Hinzu kommt die besondere Situation beim DG-Ausbau: Die neue Dachgeschosswohnung entsteht im direkten Anschluss an den Bestand, und die Übergänge zwischen alter und neuer Konstruktion sind häufige Schwachstellen für Schallbrücken. Auch die Raumform – ein ausgebautes Dachgeschoss hat oft schräge Wände, Gauben und Dachfenster – erschwert eine gleichmäßige Schalldämmung. Wer den Schallschutz von Anfang an mitdenkt, kann daher deutlich bessere Ergebnisse erzielen als bei einer nachträglichen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Schallschutz im DG-Ausbau so anspruchsvoll ist</a:t>
            </a:r>
          </a:p>
        </p:txBody>
      </p:sp>
      <p:sp>
        <p:nvSpPr>
          <p:cNvPr id="3" name="Content Placeholder 2"/>
          <p:cNvSpPr>
            <a:spLocks noGrp="1"/>
          </p:cNvSpPr>
          <p:nvPr>
            <p:ph idx="1"/>
          </p:nvPr>
        </p:nvSpPr>
        <p:spPr/>
        <p:txBody>
          <a:bodyPr/>
          <a:lstStyle/>
          <a:p>
            <a:pPr>
              <a:defRPr sz="1800"/>
            </a:pPr>
            <a:r>
              <a:t> Sanierung.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normativen Anforderungen der DIN 4109</a:t>
            </a:r>
          </a:p>
        </p:txBody>
      </p:sp>
      <p:sp>
        <p:nvSpPr>
          <p:cNvPr id="3" name="Content Placeholder 2"/>
          <p:cNvSpPr>
            <a:spLocks noGrp="1"/>
          </p:cNvSpPr>
          <p:nvPr>
            <p:ph idx="1"/>
          </p:nvPr>
        </p:nvSpPr>
        <p:spPr/>
        <p:txBody>
          <a:bodyPr/>
          <a:lstStyle/>
          <a:p>
            <a:pPr>
              <a:defRPr sz="1800"/>
            </a:pPr>
            <a:r>
              <a:t>Die DIN 4109 legt die Mindestanforderungen an den Schallschutz zwischen verschiedenen Nutzungseinheiten fest. Im DG-Ausbau bedeutet das konkret: Die neue Dachgeschosswohnung und die darunterliegenden bestehenden Wohn- oder Nutzräume müssen bestimmte Schalldämm-Werte einhalten. Das bewertete Schalldämm-Maß Rw beschreibt, wie gut ein Bauteil Luftschall dämpft – höhere Werte bedeuten besseren Schutz. Bei Holzbalkendecken ist das erreichbare Rw ohne zusätzliche Maßnahmen oft begrenzt, weshalb gezielte Verbesserungen notwendig werden. Für die Planung empfiehlt es sich, die Anforderungen frühzeitig mit einem Schallschutz-Fachplaner abzustimmen, dam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normativen Anforderungen der DIN 4109</a:t>
            </a:r>
          </a:p>
        </p:txBody>
      </p:sp>
      <p:sp>
        <p:nvSpPr>
          <p:cNvPr id="3" name="Content Placeholder 2"/>
          <p:cNvSpPr>
            <a:spLocks noGrp="1"/>
          </p:cNvSpPr>
          <p:nvPr>
            <p:ph idx="1"/>
          </p:nvPr>
        </p:nvSpPr>
        <p:spPr/>
        <p:txBody>
          <a:bodyPr/>
          <a:lstStyle/>
          <a:p>
            <a:pPr>
              <a:defRPr sz="1800"/>
            </a:pPr>
            <a:r>
              <a:t>it die Konstruktionsaufbauten entsprechend ausgelegt werden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Konstruktive Maßnahmen bei Holzbalkendecken</a:t>
            </a:r>
          </a:p>
        </p:txBody>
      </p:sp>
      <p:sp>
        <p:nvSpPr>
          <p:cNvPr id="3" name="Content Placeholder 2"/>
          <p:cNvSpPr>
            <a:spLocks noGrp="1"/>
          </p:cNvSpPr>
          <p:nvPr>
            <p:ph idx="1"/>
          </p:nvPr>
        </p:nvSpPr>
        <p:spPr/>
        <p:txBody>
          <a:bodyPr/>
          <a:lstStyle/>
          <a:p>
            <a:pPr>
              <a:defRPr sz="1800"/>
            </a:pPr>
            <a:r>
              <a:t>Um die Schalldämmung einer Holzbalkendecke zu verbessern, haben sich verschiedene Konstruktionsansätze bewährt. Eine abgehängte Decke mit Mineralwolle oder Zellulose in den Hohlräumen kann den Luftschall deutlich dämpfen, wenn sie vom Bestand entkoppelt angebracht wird. Auch Vorsatzschalen an den Balken, die die Masse des Bauteils erhöhen, tragen zur Verbesserung bei. Für den Trittschall – also Geräusche, die durch Begehen oder Fallen von Gegenständen entstehen – ist die Ebene über der Decke entscheidend. Ein schwimmender Estrich auf einer elastischen Schicht auf dem Dachboden kann hier wirksam Abhilfe schaffen. Die genauen Aufbauten hängen 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Konstruktive Maßnahmen bei Holzbalkendecken</a:t>
            </a:r>
          </a:p>
        </p:txBody>
      </p:sp>
      <p:sp>
        <p:nvSpPr>
          <p:cNvPr id="3" name="Content Placeholder 2"/>
          <p:cNvSpPr>
            <a:spLocks noGrp="1"/>
          </p:cNvSpPr>
          <p:nvPr>
            <p:ph idx="1"/>
          </p:nvPr>
        </p:nvSpPr>
        <p:spPr/>
        <p:txBody>
          <a:bodyPr/>
          <a:lstStyle/>
          <a:p>
            <a:pPr>
              <a:defRPr sz="1800"/>
            </a:pPr>
            <a:r>
              <a:t>on der vorhandenen Konstruktion und den geforderten Werten ab.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Haustechnik entkoppeln</a:t>
            </a:r>
          </a:p>
        </p:txBody>
      </p:sp>
      <p:sp>
        <p:nvSpPr>
          <p:cNvPr id="3" name="Content Placeholder 2"/>
          <p:cNvSpPr>
            <a:spLocks noGrp="1"/>
          </p:cNvSpPr>
          <p:nvPr>
            <p:ph idx="1"/>
          </p:nvPr>
        </p:nvSpPr>
        <p:spPr/>
        <p:txBody>
          <a:bodyPr/>
          <a:lstStyle/>
          <a:p>
            <a:pPr>
              <a:defRPr sz="1800"/>
            </a:pPr>
            <a:r>
              <a:t>Neben den Flächenbauteilen sind die Anschlüsse zwischen neuer Dachgeschossdecke und Außenwänden sowie angrenzenden Räumen kritische Punkte. Trennwände zwischen den neuen Wohnungen im DG sollten nach Möglichkeit bis zur Rohdecke durchgehen und dort mit klingenden mineralischen Stopfen angeschlossen werden, um Schallbrücken zu vermeiden. Auch die Haustechnik verdient besondere Aufmerksamkeit: Sanitär- und Heizungsleitungen übertragen Körperschall besonders leicht. Elastische Befestigungen und Rohrschellen mit Gummieinlagen können diese Übertragungswege wirksam unterbrechen. Die Anschlüsse sollten sorgfältig geplant und ausgeführt werden, da nac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Haustechnik entkoppeln</a:t>
            </a:r>
          </a:p>
        </p:txBody>
      </p:sp>
      <p:sp>
        <p:nvSpPr>
          <p:cNvPr id="3" name="Content Placeholder 2"/>
          <p:cNvSpPr>
            <a:spLocks noGrp="1"/>
          </p:cNvSpPr>
          <p:nvPr>
            <p:ph idx="1"/>
          </p:nvPr>
        </p:nvSpPr>
        <p:spPr/>
        <p:txBody>
          <a:bodyPr/>
          <a:lstStyle/>
          <a:p>
            <a:pPr>
              <a:defRPr sz="1800"/>
            </a:pPr>
            <a:r>
              <a:t>hträgliche Korrekturen oft aufwendig und kostspielig sind.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Dachflächenfenster und Gauben als Schallschutzthema</a:t>
            </a:r>
          </a:p>
        </p:txBody>
      </p:sp>
      <p:sp>
        <p:nvSpPr>
          <p:cNvPr id="3" name="Content Placeholder 2"/>
          <p:cNvSpPr>
            <a:spLocks noGrp="1"/>
          </p:cNvSpPr>
          <p:nvPr>
            <p:ph idx="1"/>
          </p:nvPr>
        </p:nvSpPr>
        <p:spPr/>
        <p:txBody>
          <a:bodyPr/>
          <a:lstStyle/>
          <a:p>
            <a:pPr>
              <a:defRPr sz="1800"/>
            </a:pPr>
            <a:r>
              <a:t>Dachflächenfenster und Gauben sind nicht nur architektonische Elemente, sondern auch potenzielle Schallschwachstellen. Äußere Geräusche wie Regen, Wind oder Verkehr können über diese Öffnungen verstärkt in den Raum gelangen. Bei der Auswahl von Dachfenstern sollte auf ausreichende Schallschutzklassen geachtet werden, die im Datenblatt des Herstellers angegeben sind. Die Montage mit Dichtungsbändern und Mineralwolldämmung im Rahmenanschluss mindert die Schallübertragung. Bei Gauben sind die seitlichen Anschlüsse an die Dachhaut und die Abdichtung der Fugen besonders zu beachten, da hier sonst ungewollte Schallübertragung entstehen kann.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Schallschutz von Beginn an mitdenken</a:t>
            </a:r>
          </a:p>
        </p:txBody>
      </p:sp>
      <p:sp>
        <p:nvSpPr>
          <p:cNvPr id="3" name="Content Placeholder 2"/>
          <p:cNvSpPr>
            <a:spLocks noGrp="1"/>
          </p:cNvSpPr>
          <p:nvPr>
            <p:ph idx="1"/>
          </p:nvPr>
        </p:nvSpPr>
        <p:spPr/>
        <p:txBody>
          <a:bodyPr/>
          <a:lstStyle/>
          <a:p>
            <a:pPr>
              <a:defRPr sz="1800"/>
            </a:pPr>
            <a:r>
              <a:t>Der Schallschutz sollte bereits in der Entwurfsplanung eines DG-Ausbaus berücksichtigt werden – nicht erst kurz vor der Genehmigungsprüfung. Für Hamburg bedeutet das: Wer einen DG-Ausbau plant, sollte sich frühzeitig über die Anforderungen der DIN 4109 informieren und prüfen, ob ein Schallschutznachweis erforderlich ist. Die Kombination aus altem Bestand und neuem Dachgeschoss stellt besondere Anforderungen, die ohne fachliche Begutachtung leicht übersehen werden. Eine frühzeitige Abstimmung mit einem Fachplaner für Bauphysik spart nicht nur Kosten, sondern sorgt auch dafür, dass die Bewohner des neuen DG-Ausbaus langfristig von einem angeneh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Schallschutz von Beginn an mitdenken</a:t>
            </a:r>
          </a:p>
        </p:txBody>
      </p:sp>
      <p:sp>
        <p:nvSpPr>
          <p:cNvPr id="3" name="Content Placeholder 2"/>
          <p:cNvSpPr>
            <a:spLocks noGrp="1"/>
          </p:cNvSpPr>
          <p:nvPr>
            <p:ph idx="1"/>
          </p:nvPr>
        </p:nvSpPr>
        <p:spPr/>
        <p:txBody>
          <a:bodyPr/>
          <a:lstStyle/>
          <a:p>
            <a:pPr>
              <a:defRPr sz="1800"/>
            </a:pPr>
            <a:r>
              <a:t>men Wohnklima ohne übermäßige Geräuschbelastung profitieren.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Brandschutz beim DG-Ausbau mit Holz: Was Hamburg nach HBauO 2026 wirklich verlangt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