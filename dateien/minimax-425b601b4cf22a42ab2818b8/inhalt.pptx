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hamburg/-/blob/afde687bd4fa2df5cc462bd5b463d3ea6bd734a2/_posts/2026-10-24-kontrollierte-wohnraumlueftung-dachgeschoss-hamburg.md" TargetMode="External"/><Relationship Id="rId3" Type="http://schemas.openxmlformats.org/officeDocument/2006/relationships/hyperlink" Target="https://holzundhaus.github.io/dachgeschossausbauhamburg/dateien/minimax-425b601b4cf22a42ab2818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Kontrollierte Wohnraumlüftung im Hamburger Dachgeschoss: dezentral oder zentral? · Erklärende Präsentation</a:t>
            </a:r>
          </a:p>
        </p:txBody>
      </p:sp>
      <p:sp>
        <p:nvSpPr>
          <p:cNvPr id="3" name="Content Placeholder 2"/>
          <p:cNvSpPr>
            <a:spLocks noGrp="1"/>
          </p:cNvSpPr>
          <p:nvPr>
            <p:ph idx="1"/>
          </p:nvPr>
        </p:nvSpPr>
        <p:spPr/>
        <p:txBody>
          <a:bodyPr/>
          <a:lstStyle/>
          <a:p>
            <a:r>
              <a:t>Überblick: Beim Ausbau eines Hamburger Dachgeschosses gehört die Lüftung zu einem eigenständigen Konzept für Feuchtigkeitsschutz, Raumklima und Energieeffizienz. Die wichtigste Entscheidung lautet: dezentrale Geräte für einzelne Räume oder eine zentrale Anlage für das gesamte Dachgeschoss.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Lüftung im Dachgeschoss wichtig wird</a:t>
            </a:r>
          </a:p>
        </p:txBody>
      </p:sp>
      <p:sp>
        <p:nvSpPr>
          <p:cNvPr id="3" name="Content Placeholder 2"/>
          <p:cNvSpPr>
            <a:spLocks noGrp="1"/>
          </p:cNvSpPr>
          <p:nvPr>
            <p:ph idx="1"/>
          </p:nvPr>
        </p:nvSpPr>
        <p:spPr/>
        <p:txBody>
          <a:bodyPr/>
          <a:lstStyle/>
          <a:p>
            <a:pPr>
              <a:defRPr sz="1800"/>
            </a:pPr>
            <a:r>
              <a:t>Ein moderner Dachausbau schafft eine deutlich dichtere Gebäudehülle. Diffusionsoffene Unterspannbahn, Dampfbremse, neue Fenster und zusätzliche Dämmung reduzieren den natürlichen Luftwechsel. In Hamburg kann Stoßlüften allein deshalb nicht in jedem Fall ausreichen, um Feuchtigkeit aus der Bauphase und aus dem Wohnalltag zuverlässig abzuführen. Eine kontrollierte Wohnraumlüftung ergänzt die Feuchtigkeitsstrategie und hilft, Kondenswasser an Dachschrägen und Gauben zu vermeiden. Sie ersetzt weder eine fachgerecht ausgeführte Dampfbremse noch die Unterspannbahn. Vielmehr bildet sie mit beiden Bauteilen einen abgestimmten Schutz gegen Feuchtigkei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Lüftung im Dachgeschoss wichtig wird</a:t>
            </a:r>
          </a:p>
        </p:txBody>
      </p:sp>
      <p:sp>
        <p:nvSpPr>
          <p:cNvPr id="3" name="Content Placeholder 2"/>
          <p:cNvSpPr>
            <a:spLocks noGrp="1"/>
          </p:cNvSpPr>
          <p:nvPr>
            <p:ph idx="1"/>
          </p:nvPr>
        </p:nvSpPr>
        <p:spPr/>
        <p:txBody>
          <a:bodyPr/>
          <a:lstStyle/>
          <a:p>
            <a:pPr>
              <a:defRPr sz="1800"/>
            </a:pPr>
            <a:r>
              <a:t>t. Für einen Überblick über die Rolle der Lüftung im Kostenrahmen eines Dachgeschossausbaus bietet sich die [FAQ zur Feuchtigkeit im Dachgeschoss](https://dachgeschossausbauhamburg.de/faq/wie-wird-die-feuchtigkeit-im-dachgeschoss-vermieden/)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Dezentrale Lüftung: passend für einzelne Räume</a:t>
            </a:r>
          </a:p>
        </p:txBody>
      </p:sp>
      <p:sp>
        <p:nvSpPr>
          <p:cNvPr id="3" name="Content Placeholder 2"/>
          <p:cNvSpPr>
            <a:spLocks noGrp="1"/>
          </p:cNvSpPr>
          <p:nvPr>
            <p:ph idx="1"/>
          </p:nvPr>
        </p:nvSpPr>
        <p:spPr/>
        <p:txBody>
          <a:bodyPr/>
          <a:lstStyle/>
          <a:p>
            <a:pPr>
              <a:defRPr sz="1800"/>
            </a:pPr>
            <a:r>
              <a:t>Bei einer dezentralen Lösung wird für jeden Raum ein eigenes Wand- oder Fenstermodul vorgesehen. Die Geräte arbeiten paarweise im Gegentakt und führen einen kleinen Keramik-Wärmespeicher mit. Dadurch wird Wärme aus der ausströmenden Luft gespeichert und anschließend an die frische Zuluft abgegeben. Ein großer Vorteil ist der Verzicht auf eine umfangreiche Kanalführung. Das macht die Lösung besonders interessant, wenn nur einzelne Bereiche wie ein Kinderzimmer oder ein Arbeitszimmer nachgerüstet werden sollen oder die Dachschrägen bereits verkleidet sind. Allerdings müssen Filterwechsel und Reinigungsarbeiten regelmäßig erfolgen. In einem Dach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Dezentrale Lüftung: passend für einzelne Räume</a:t>
            </a:r>
          </a:p>
        </p:txBody>
      </p:sp>
      <p:sp>
        <p:nvSpPr>
          <p:cNvPr id="3" name="Content Placeholder 2"/>
          <p:cNvSpPr>
            <a:spLocks noGrp="1"/>
          </p:cNvSpPr>
          <p:nvPr>
            <p:ph idx="1"/>
          </p:nvPr>
        </p:nvSpPr>
        <p:spPr/>
        <p:txBody>
          <a:bodyPr/>
          <a:lstStyle/>
          <a:p>
            <a:pPr>
              <a:defRPr sz="1800"/>
            </a:pPr>
            <a:r>
              <a:t>geschoss mit geneigten Flächen und beengten Zugängen kann diese Wartung umständlich sein. Dezrale Geräte eignen sich daher nicht nur wegen ihrer räumlichen Flexibilität, sondern auch für Gebäude, bei denen eine zentrale Installation nachträglich schwer zu realisieren wäre.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Zentrale Lüftung: ein System für das ganze Dachgeschoss</a:t>
            </a:r>
          </a:p>
        </p:txBody>
      </p:sp>
      <p:sp>
        <p:nvSpPr>
          <p:cNvPr id="3" name="Content Placeholder 2"/>
          <p:cNvSpPr>
            <a:spLocks noGrp="1"/>
          </p:cNvSpPr>
          <p:nvPr>
            <p:ph idx="1"/>
          </p:nvPr>
        </p:nvSpPr>
        <p:spPr/>
        <p:txBody>
          <a:bodyPr/>
          <a:lstStyle/>
          <a:p>
            <a:pPr>
              <a:defRPr sz="1800"/>
            </a:pPr>
            <a:r>
              <a:t>Eine zentrale Anlage versorgt mehrere Räume über ein Kanalsystem. Ein Lüftungsgerät übernimmt die Luftführung und führt die Wärmerückgewinnung über einen Kreuz-Gegenstrom-Wärmetauscher durch. Die erzielbare Effizienz hängt vom verwendeten Gerät ab. Besonders wichtig ist der Planungszeitpunkt: Schächte, Kanäle und Revisionsöffnungen müssen feststehen, bevor die Trockenbaumontage beginnt. Andernfalls sind spätere Umbauten an bekleideten Wänden oder Decken unvermeidbar. Die zentrale Variante passt vor allem zu einem vollständigen Ausbau, bei dem das ganze Dachgeschoss gleichzeitig hergerichtet wird. Voraussetzung sind sinnvolle Steigeleitungen 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Zentrale Lüftung: ein System für das ganze Dachgeschoss</a:t>
            </a:r>
          </a:p>
        </p:txBody>
      </p:sp>
      <p:sp>
        <p:nvSpPr>
          <p:cNvPr id="3" name="Content Placeholder 2"/>
          <p:cNvSpPr>
            <a:spLocks noGrp="1"/>
          </p:cNvSpPr>
          <p:nvPr>
            <p:ph idx="1"/>
          </p:nvPr>
        </p:nvSpPr>
        <p:spPr/>
        <p:txBody>
          <a:bodyPr/>
          <a:lstStyle/>
          <a:p>
            <a:pPr>
              <a:defRPr sz="1800"/>
            </a:pPr>
            <a:r>
              <a:t>wischen Spitzboden und Erdgeschoss. In dieser Konstellation arbeitet die Wärmerückgewinnung gleichmäßig für alle angeschlossenen Räume. Weitere Details zu zentralen und dezentralen Systemen zeigt der Beitrag zur [kontrollierten Wohnraumlüftung im Hamburger Dachgeschoss](https://dachgeschossausbauhamburg.de/faq/wie-wird-die-feuchtigkeit-im-dachgeschoss-vermieden/).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Schimmelprävention und rechtlicher Rahmen</a:t>
            </a:r>
          </a:p>
        </p:txBody>
      </p:sp>
      <p:sp>
        <p:nvSpPr>
          <p:cNvPr id="3" name="Content Placeholder 2"/>
          <p:cNvSpPr>
            <a:spLocks noGrp="1"/>
          </p:cNvSpPr>
          <p:nvPr>
            <p:ph idx="1"/>
          </p:nvPr>
        </p:nvSpPr>
        <p:spPr/>
        <p:txBody>
          <a:bodyPr/>
          <a:lstStyle/>
          <a:p>
            <a:pPr>
              <a:defRPr sz="1800"/>
            </a:pPr>
            <a:r>
              <a:t>Eine kontrollierte Wohnraumlüftung unterstützt einen konstanten Feuchtehaushalt und reduziert das Risiko, dass sich Tauwasser an Übergängen zwischen Wand und Dachschräge bildet. Das ist besonders relevant, wenn Außenluft und innere Bauteiltemperaturen ungünstig zueinander passen. Eine Lüftungsanlage ist nach dem in der Quelle dargestellten Stand beim Dachgeschossausbau jedoch nicht automatisch zwingend vorgeschrieben. Entscheidend ist unter anderem die Dichtheit der Gebäudehülle. Wird sie sehr dicht ausgeführt, kann ein Lüftungskonzept nach DIN 1946-6 erforderlich werden, weil der natürliche Luftwechsel dann nicht mehr ausreicht. Wer keine 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Schimmelprävention und rechtlicher Rahmen</a:t>
            </a:r>
          </a:p>
        </p:txBody>
      </p:sp>
      <p:sp>
        <p:nvSpPr>
          <p:cNvPr id="3" name="Content Placeholder 2"/>
          <p:cNvSpPr>
            <a:spLocks noGrp="1"/>
          </p:cNvSpPr>
          <p:nvPr>
            <p:ph idx="1"/>
          </p:nvPr>
        </p:nvSpPr>
        <p:spPr/>
        <p:txBody>
          <a:bodyPr/>
          <a:lstStyle/>
          <a:p>
            <a:pPr>
              <a:defRPr sz="1800"/>
            </a:pPr>
            <a:r>
              <a:t>lage einsetzt, muss die Feuchtigkeit durch häufiges, diszipliniertes Lüften und kontrollierte Innentemperaturen bewältigen. Zudem müssen der Mindestwärmeschutz des Gebäudeenergiegesetzes und die Förderanforderungen berücksichtigt werden. Eine KWL mit dokumentierter Wärmerückgewinnung kann für die Erreichung eines Effizienzhaus-Niveaus und entsprechender Förderungen wichtig sein.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Kosten und Wartung</a:t>
            </a:r>
          </a:p>
        </p:txBody>
      </p:sp>
      <p:sp>
        <p:nvSpPr>
          <p:cNvPr id="3" name="Content Placeholder 2"/>
          <p:cNvSpPr>
            <a:spLocks noGrp="1"/>
          </p:cNvSpPr>
          <p:nvPr>
            <p:ph idx="1"/>
          </p:nvPr>
        </p:nvSpPr>
        <p:spPr/>
        <p:txBody>
          <a:bodyPr/>
          <a:lstStyle/>
          <a:p>
            <a:pPr>
              <a:defRPr sz="1800"/>
            </a:pPr>
            <a:r>
              <a:t>Die Kosten einer Lüftungslösung hängen vor allem von Geräteklasse, Kanallängen, Schalldämpfern und Filterausstattung ab. Als Orientierung nennt die Quelle für dezentrale Lösungen einen niedrigen vierstelligen Bereich pro Gerät inklusive Einbau und für zentrale Systeme bei einem typischen Einfamilienhaus einen mittleren bis höheren fünfstelligen Bereich. Diese Angaben ersetzen kein konkretes Angebot. Hinzu kommen jährliche Filterwechsel sowie Stromkosten, deren Umfang von der eingestellten Betriebsstufe abhängt. Schon bei der Planung sollten Außen- und Fortluftführung, Schächte, Revisionsöffnungen, Schalldämpfer, Filterkonzept und Wartungszugä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Kosten und Wartung</a:t>
            </a:r>
          </a:p>
        </p:txBody>
      </p:sp>
      <p:sp>
        <p:nvSpPr>
          <p:cNvPr id="3" name="Content Placeholder 2"/>
          <p:cNvSpPr>
            <a:spLocks noGrp="1"/>
          </p:cNvSpPr>
          <p:nvPr>
            <p:ph idx="1"/>
          </p:nvPr>
        </p:nvSpPr>
        <p:spPr/>
        <p:txBody>
          <a:bodyPr/>
          <a:lstStyle/>
          <a:p>
            <a:pPr>
              <a:defRPr sz="1800"/>
            </a:pPr>
            <a:r>
              <a:t>nge berücksichtigt werden. Bei der Außenluftfilterung wird G4 als Standard genannt; in Innenstadtlagen mit erhöhter Feinstaubbelastung kann F7 sinnvoll sein. Wer das Dachgeschoss vollständig ausbaut, sollte die zentrale Variante prüfen. Bei einzelnen fertig ausgebauten Räumen oder fehlenden Kanalführungsmöglichkeiten bietet sich eine dezentrale Lösung an. Die endgültige Entscheidung hängt vom Gebäude, Dachaufbau, gewünschten Raumklima und den Förderanforderungen 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Kontrollierte Wohnraumlüftung im Hamburger Dachgeschoss: dezentral oder zentral?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