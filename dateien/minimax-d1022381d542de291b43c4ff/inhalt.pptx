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hamburg/-/blob/d0394b5591bd608f7b8944f0a4469ac72cb50cc6/_posts/2026-10-28-nachbarschaftsrecht-dachgeschossausbau-hamburg.md" TargetMode="External"/><Relationship Id="rId3" Type="http://schemas.openxmlformats.org/officeDocument/2006/relationships/hyperlink" Target="https://holzundhaus.github.io/dachgeschossausbauhamburg/dateien/minimax-d1022381d542de291b43c4f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Nachbarschaftsrecht beim DG-Ausbau in Hamburg: Rechte, Pflichten und Konfliktlösung · Erklärende Präsentation</a:t>
            </a:r>
          </a:p>
        </p:txBody>
      </p:sp>
      <p:sp>
        <p:nvSpPr>
          <p:cNvPr id="3" name="Content Placeholder 2"/>
          <p:cNvSpPr>
            <a:spLocks noGrp="1"/>
          </p:cNvSpPr>
          <p:nvPr>
            <p:ph idx="1"/>
          </p:nvPr>
        </p:nvSpPr>
        <p:spPr/>
        <p:txBody>
          <a:bodyPr/>
          <a:lstStyle/>
          <a:p>
            <a:r>
              <a:t>Überblick: Ein Dachgeschossausbau berührt nicht nur den eigenen Wohnraum, sondern kann auch Belange der direkten Nachbarn betreffen. Besonders bei Gauben, Aufstockungen, neuen Dachflächenfenstern, veränderten Zufahrten oder der Ableitung von Regenwasser ist eine frühzeitige Abstimmung sinnvoll. Zugleich gilt: Eine bauordnungsrechtliche Genehmigung beantwortet nicht automatisch alle zivilrechtlichen Fragen. Dieser Leitfaden ordnet die wichtigsten Prüfpunkte für Hamburg ein und zeigt, welche Unterlagen und Gespräche dabei helfen, Konflikte früh zu klären.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das Nachbarrecht überhaupt relevant wird</a:t>
            </a:r>
          </a:p>
        </p:txBody>
      </p:sp>
      <p:sp>
        <p:nvSpPr>
          <p:cNvPr id="3" name="Content Placeholder 2"/>
          <p:cNvSpPr>
            <a:spLocks noGrp="1"/>
          </p:cNvSpPr>
          <p:nvPr>
            <p:ph idx="1"/>
          </p:nvPr>
        </p:nvSpPr>
        <p:spPr/>
        <p:txBody>
          <a:bodyPr/>
          <a:lstStyle/>
          <a:p>
            <a:pPr>
              <a:defRPr sz="1800"/>
            </a:pPr>
            <a:r>
              <a:t>Ein reiner Innenausbau, bei dem Dachkonstruktion, Gebäudehöhe und äußere Gestaltung unverändert bleiben, berührt Nachbarn in der Regel nicht. Andere Ausbauten können dagegen nachbarrechtlich geschützte Belange berühren. Dazu gehören insbesondere Grenzabstände, Wandhöhen, Gauben, Balkone, Aufzugsüberfahrten, Zufahrten, Notwege sowie Regenwasser, das auf das Nachbargrundstück gelangt. Auch die Sicht auf Terrasse, Bad oder andere private Bereiche kann eine Rolle spielen, wenn neue Fenster oder Gauben unmittelbar angrenzende Flächen einbeziehen. Prüfen Sie daher nicht nur die Bauvorlage, sondern auch, ob das Vorhaben das Grundstück oder die Nutzu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das Nachbarrecht überhaupt relevant wird</a:t>
            </a:r>
          </a:p>
        </p:txBody>
      </p:sp>
      <p:sp>
        <p:nvSpPr>
          <p:cNvPr id="3" name="Content Placeholder 2"/>
          <p:cNvSpPr>
            <a:spLocks noGrp="1"/>
          </p:cNvSpPr>
          <p:nvPr>
            <p:ph idx="1"/>
          </p:nvPr>
        </p:nvSpPr>
        <p:spPr/>
        <p:txBody>
          <a:bodyPr/>
          <a:lstStyle/>
          <a:p>
            <a:pPr>
              <a:defRPr sz="1800"/>
            </a:pPr>
            <a:r>
              <a:t>ng des Nachbargrundstücks beeinflusst. Ein Plan mit Angaben zu Gaubenposition, Fensterbreite, Brüstung und Wasserführung schafft dafür eine belastbare Grundlage.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und Beteiligung: zwei getrennte Prüfungen</a:t>
            </a:r>
          </a:p>
        </p:txBody>
      </p:sp>
      <p:sp>
        <p:nvSpPr>
          <p:cNvPr id="3" name="Content Placeholder 2"/>
          <p:cNvSpPr>
            <a:spLocks noGrp="1"/>
          </p:cNvSpPr>
          <p:nvPr>
            <p:ph idx="1"/>
          </p:nvPr>
        </p:nvSpPr>
        <p:spPr/>
        <p:txBody>
          <a:bodyPr/>
          <a:lstStyle/>
          <a:p>
            <a:pPr>
              <a:defRPr sz="1800"/>
            </a:pPr>
            <a:r>
              <a:t>In Hamburg ist zu unterscheiden, ob ein Vorhaben nach §62 HBauO genehmigungsfrei gestellt ist oder nach §61 HBauO im vereinfachten Verfahren genehmigt wird. Im vereinfachten Verfahren können Nachbarn als Beteiligte eingebunden werden, wenn ihre geschützten Belange berührt sind. Das vereinfachte Verfahren ersetzt jedoch nicht die zivilrechtliche Prüfung und nicht die sorgfältige Abstimmung mit Betroffenen. Das Bezirksamt prüft bauordnungsrechtliche Anforderungen; private Ansprüche, Vereinbarungen und Grenzabstände müssen gegebenenfalls gesondert geklärt werden. Hilfreich ist, den Nachbarn das geplante Verfahren und die wichtigsten Eckpunkte fr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und Beteiligung: zwei getrennte Prüfungen</a:t>
            </a:r>
          </a:p>
        </p:txBody>
      </p:sp>
      <p:sp>
        <p:nvSpPr>
          <p:cNvPr id="3" name="Content Placeholder 2"/>
          <p:cNvSpPr>
            <a:spLocks noGrp="1"/>
          </p:cNvSpPr>
          <p:nvPr>
            <p:ph idx="1"/>
          </p:nvPr>
        </p:nvSpPr>
        <p:spPr/>
        <p:txBody>
          <a:bodyPr/>
          <a:lstStyle/>
          <a:p>
            <a:pPr>
              <a:defRPr sz="1800"/>
            </a:pPr>
            <a:r>
              <a:t>üh zu erläutern, statt sie erst über Plakate oder Schreiben des Bezirksamts zu informieren. Weitere Ablaufdetails bietet der Hamburger Genehmigungs-Ratgeber.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Gauben, Grenzabstände und Erhaltungssatzungen</a:t>
            </a:r>
          </a:p>
        </p:txBody>
      </p:sp>
      <p:sp>
        <p:nvSpPr>
          <p:cNvPr id="3" name="Content Placeholder 2"/>
          <p:cNvSpPr>
            <a:spLocks noGrp="1"/>
          </p:cNvSpPr>
          <p:nvPr>
            <p:ph idx="1"/>
          </p:nvPr>
        </p:nvSpPr>
        <p:spPr/>
        <p:txBody>
          <a:bodyPr/>
          <a:lstStyle/>
          <a:p>
            <a:pPr>
              <a:defRPr sz="1800"/>
            </a:pPr>
            <a:r>
              <a:t>Für Gauben und Aufbauten können Bebauungspläne, Abstandsregelungen und örtliche Satzungen entscheidend sein. In Bebauungsplänen werden häufig Mindestabstände zur Grenze vorgegeben; eine Abweichung ist nicht automatisch zulässig. Sie setzt insbesondere voraus, dass öffentlich-rechtliche Belange nicht entgegenstehen und nachbarrechtliche Interessen gewahrt bleiben. Zusätzlich können Erhaltungssatzungen oder städtebauliche Erhaltungsverordnungen greifen. Innerhalb entsprechender Gebiete wird die städtebauliche Eigenart besonders geprüft. Für die Praxis bedeutet das: Gestaltung, Gaubenform, Sichtbarkeit und Auswirkungen auf das Umfeld gehören frü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Gauben, Grenzabstände und Erhaltungssatzungen</a:t>
            </a:r>
          </a:p>
        </p:txBody>
      </p:sp>
      <p:sp>
        <p:nvSpPr>
          <p:cNvPr id="3" name="Content Placeholder 2"/>
          <p:cNvSpPr>
            <a:spLocks noGrp="1"/>
          </p:cNvSpPr>
          <p:nvPr>
            <p:ph idx="1"/>
          </p:nvPr>
        </p:nvSpPr>
        <p:spPr/>
        <p:txBody>
          <a:bodyPr/>
          <a:lstStyle/>
          <a:p>
            <a:pPr>
              <a:defRPr sz="1800"/>
            </a:pPr>
            <a:r>
              <a:t>h in die Prüfung. Der Gauben-Ratgeber bietet eine ergänzende Übersicht zu möglichen Gaubenformen, ersetzt aber nicht die örtliche Genehmigungs- und Nachbarrechtsprüfung.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 informieren und nachvollziehbar dokumentieren</a:t>
            </a:r>
          </a:p>
        </p:txBody>
      </p:sp>
      <p:sp>
        <p:nvSpPr>
          <p:cNvPr id="3" name="Content Placeholder 2"/>
          <p:cNvSpPr>
            <a:spLocks noGrp="1"/>
          </p:cNvSpPr>
          <p:nvPr>
            <p:ph idx="1"/>
          </p:nvPr>
        </p:nvSpPr>
        <p:spPr/>
        <p:txBody>
          <a:bodyPr/>
          <a:lstStyle/>
          <a:p>
            <a:pPr>
              <a:defRPr sz="1800"/>
            </a:pPr>
            <a:r>
              <a:t>Viele Konflikte entstehen weniger aus technischen Details als aus dem Gefühl, nicht oder zu spät einbezogen worden zu sein. Direkte Anlieger sollten deshalb frühzeitig schriftlich informiert werden. Hilfreich sind ein überschaubarer Planauszug, eine Beschreibung der sichtbaren Veränderungen, Angaben zur Bauzeit sowie die benannten Ansprechpartner. Themen wie Sichtschutz, Bauzeiten, Geräusche, Baustellenzufahrten und die Entsorgung von Abfall können in einer gemeinsamen Besprechung gesammelt werden. Sollen dauerhafte Lösungen auf dem Grundstück gesichert werden, kommen dafür je nach Einzelfall eine Baulast, ein Servitut oder eine Grunddienstba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 informieren und nachvollziehbar dokumentieren</a:t>
            </a:r>
          </a:p>
        </p:txBody>
      </p:sp>
      <p:sp>
        <p:nvSpPr>
          <p:cNvPr id="3" name="Content Placeholder 2"/>
          <p:cNvSpPr>
            <a:spLocks noGrp="1"/>
          </p:cNvSpPr>
          <p:nvPr>
            <p:ph idx="1"/>
          </p:nvPr>
        </p:nvSpPr>
        <p:spPr/>
        <p:txBody>
          <a:bodyPr/>
          <a:lstStyle/>
          <a:p>
            <a:pPr>
              <a:defRPr sz="1800"/>
            </a:pPr>
            <a:r>
              <a:t>rkeit infrage. Welche Lösung passt, muss rechtlich geprüft werden. Schriftliche Vereinbarungen sollten verständlich formuliert und von den betroffenen Grundstücks eigentümerinnen und -eigentümern unterzeichnet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unverzichtbar ist</a:t>
            </a:r>
          </a:p>
        </p:txBody>
      </p:sp>
      <p:sp>
        <p:nvSpPr>
          <p:cNvPr id="3" name="Content Placeholder 2"/>
          <p:cNvSpPr>
            <a:spLocks noGrp="1"/>
          </p:cNvSpPr>
          <p:nvPr>
            <p:ph idx="1"/>
          </p:nvPr>
        </p:nvSpPr>
        <p:spPr/>
        <p:txBody>
          <a:bodyPr/>
          <a:lstStyle/>
          <a:p>
            <a:pPr>
              <a:defRPr sz="1800"/>
            </a:pPr>
            <a:r>
              <a:t>Eine frühe Beratung ist besonders sinnvoll, wenn das Grundstück in einem Erhaltungssatzungsgebiet liegt, eine bestehende Baulast vermutet wird, Gauben geplant sind, die nahe an der Grundstücksgrenze liegen, oder ein Rettungsfenster auf die Nachbarseite gerichtet ist. Auch bei unklarer Wasserführung, neuen Zufahrten oder abweichenden Höhen sollte nicht allein auf den Genehmigungsbescheid vertraut werden. Besteht Unsicherheit über den geltenden Bebauungsplan, die zutreffende Verfahrensart oder nachbarrechtliche Schutzinteressen, holen Sie eine fachliche Einschätzung ein. So lassen sich offene Punkte klären, bevor Planungen verändert werden oder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unverzichtbar ist</a:t>
            </a:r>
          </a:p>
        </p:txBody>
      </p:sp>
      <p:sp>
        <p:nvSpPr>
          <p:cNvPr id="3" name="Content Placeholder 2"/>
          <p:cNvSpPr>
            <a:spLocks noGrp="1"/>
          </p:cNvSpPr>
          <p:nvPr>
            <p:ph idx="1"/>
          </p:nvPr>
        </p:nvSpPr>
        <p:spPr/>
        <p:txBody>
          <a:bodyPr/>
          <a:lstStyle/>
          <a:p>
            <a:pPr>
              <a:defRPr sz="1800"/>
            </a:pPr>
            <a:r>
              <a:t> ein Konflikt weiter eskaliert.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Nachbarschaftsrecht beim DG-Ausbau in Hamburg: Rechte, Pflichten und Konfliktlösung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